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D20C"/>
    <a:srgbClr val="1290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4B4F1-C57E-4B3F-8A3D-76F974952F2C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2B0D-B4EC-4E39-93DE-5E0AC4C1F7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956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2B0D-B4EC-4E39-93DE-5E0AC4C1F787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058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1D600-3C85-8B16-AAA8-CF20432FD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120982-D65C-58F0-1DC7-49E384D9C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CE3C05-AF92-9DF3-B0B6-FB6240D1D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0DA605-38F8-D32D-6E58-005FCD7EF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CBE06C-E06B-3BF9-E893-85A88D6F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4104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01B86-9E70-4521-48E3-1C0C06B9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121276-736F-DB70-D749-F671811D7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AB79CC-9B2D-81CC-8247-390A4E5B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B50CC8-6771-50C9-6FF2-484F3922B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EB4391-DC19-3636-594C-123CA52D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674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85DDA-3AF3-5365-AF38-F85FD6FF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1D1A54-E5CC-FE4F-0020-0DA4CA461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CB5B8F-750C-E981-CBE6-8940FD2A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667C26-FAFA-5180-8FC3-1A17EF4A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0B9FE3-4FAC-EFBE-879D-0F7FAB64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65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ADB98-15A7-8B0E-F8F8-27E839D6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B0235C-9E14-97DB-7D45-10C072BD5C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9B9735-0C75-FB5E-9ED5-9A9B1D1DA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CBA5F0-9003-FF2A-0622-19A2D7937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712D09-52A4-8549-1688-C52F4F8E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1A65BD-ABFC-8302-6138-CF0F1577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91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0FF8A-9DC2-5C1C-38A6-9D2B0966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658562-EACE-F951-474F-F74BFAE97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454EBF-C376-135B-EEEF-C15D07F00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D95FA1-1922-7DE7-1827-DD5F3EF9F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E75948-D1B6-2D18-8F67-D350AE7D1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5F7943A-01AC-1B1B-81B4-B253B3A66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0E92AC8-8A8A-AB72-3E9F-53DAA464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31D5BF-6CB5-99CF-BD03-A3AF71D4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879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55E8E-560C-5B32-FDD2-9D7A4BA1B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D9EFC6-F06B-05E5-7E33-1372924A8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1CE7EA-12B7-4927-D054-C2A4C6CE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0E41F4-8B12-635E-C4B7-0CD42341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037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2C86748-38C3-A241-F38D-819AD57DD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604250-1950-225C-8DCA-191B6A1B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3B6F14-80E8-690D-A783-C2D87DCD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232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558B1-2CD2-2087-4139-C7BAFEE1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894013-21AB-DB59-A9E7-CCC7E0A86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C96C0F-BCA4-C7E4-E384-F275D5ED9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D59405-BDD4-BCCC-B1FF-E68D6E04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9C1917-099D-8817-D63A-4E217E707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02EED-7F16-ED69-09C3-7589F780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634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AEEF6-09DD-719E-BDE6-E3BD9F65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564ADE5-C1C8-8766-0EC9-B0C53FC6B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3D72DC-190D-4CCF-02A7-AB5CB0DD4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137525-CA92-8264-43B7-E9D39283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2D10BD-4E8D-1A91-402E-63E14121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AD8295-9281-981A-9DED-D3811CF9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170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615AC-3D4A-F9F3-9D2F-0B78FA48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789BBD-25A9-DE4F-5224-AC0300AD0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FF84C2-6250-33A5-B8B2-716A5C9E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4527DF-7ABB-6357-D816-794D1141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677114-CAEC-17FA-FF9A-2C854DA3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439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FF7EED-BA2D-1DBD-101C-ED34016B5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D724C9-207F-A8E4-0240-23A817C72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82C265-2DD4-D476-8910-CDDDE351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578D88-E8D5-69B3-9008-F29818A11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4AD881-A9B4-9A0B-F539-5115CFC3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449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BE1F04-C448-C2DE-211E-0F28FD4C4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5FF50D-7AA1-6C2B-43B4-DEFA60887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2595EC-7EAF-527F-5267-019FEA58D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18B0C-AB31-4DBD-A563-2D82A4E5CDC2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788000-B4F8-71D5-2E0B-1E62E242D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FA4C32-0458-3610-A84E-EACC56A8D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12E020-6AFA-44B4-A1BD-8AF109428C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8369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B38549F-CA50-1AA1-9872-A047FD205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4" y="0"/>
            <a:ext cx="1176261" cy="97308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19EE771-43A2-8ED2-FAEC-39C113E54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729" y="2200880"/>
            <a:ext cx="4570542" cy="261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71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51FD424-AC56-47E6-091B-97203B675E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B8C511F-4BD0-4A46-8A90-836E1FAA3D90}"/>
              </a:ext>
            </a:extLst>
          </p:cNvPr>
          <p:cNvSpPr txBox="1"/>
          <p:nvPr/>
        </p:nvSpPr>
        <p:spPr>
          <a:xfrm>
            <a:off x="4426872" y="537028"/>
            <a:ext cx="3338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FLORTE</a:t>
            </a:r>
            <a:endParaRPr lang="es-CO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4CC6E5D7-9D25-976A-976B-E78BA8E48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761" y="268513"/>
            <a:ext cx="1834342" cy="15526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53AD007-CB5D-4E46-7113-4E04803006E7}"/>
              </a:ext>
            </a:extLst>
          </p:cNvPr>
          <p:cNvCxnSpPr>
            <a:cxnSpLocks/>
          </p:cNvCxnSpPr>
          <p:nvPr/>
        </p:nvCxnSpPr>
        <p:spPr>
          <a:xfrm>
            <a:off x="2931893" y="1552691"/>
            <a:ext cx="5733136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CBFC9FC-6577-2676-9DAE-22946490D040}"/>
              </a:ext>
            </a:extLst>
          </p:cNvPr>
          <p:cNvSpPr txBox="1"/>
          <p:nvPr/>
        </p:nvSpPr>
        <p:spPr>
          <a:xfrm>
            <a:off x="2931893" y="1893026"/>
            <a:ext cx="6328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SOLANO MORENO DAVID ALEJANDRO</a:t>
            </a:r>
            <a:endParaRPr lang="es-CO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CEA3DC5-212C-EE67-F1D4-AF5E78683E57}"/>
              </a:ext>
            </a:extLst>
          </p:cNvPr>
          <p:cNvSpPr txBox="1"/>
          <p:nvPr/>
        </p:nvSpPr>
        <p:spPr>
          <a:xfrm>
            <a:off x="2931893" y="2631432"/>
            <a:ext cx="6328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TORRES CAMILO ANTONIO</a:t>
            </a:r>
            <a:endParaRPr lang="es-CO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B74F9BF-3974-ACF7-76F3-2A3975C66227}"/>
              </a:ext>
            </a:extLst>
          </p:cNvPr>
          <p:cNvSpPr txBox="1"/>
          <p:nvPr/>
        </p:nvSpPr>
        <p:spPr>
          <a:xfrm>
            <a:off x="2931893" y="3339141"/>
            <a:ext cx="6328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FUQUENE LEAL DAVID SANTIAGO</a:t>
            </a:r>
            <a:endParaRPr lang="es-CO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6AA563D-E0D3-C4DF-64BF-7DAC220C5992}"/>
              </a:ext>
            </a:extLst>
          </p:cNvPr>
          <p:cNvSpPr txBox="1"/>
          <p:nvPr/>
        </p:nvSpPr>
        <p:spPr>
          <a:xfrm>
            <a:off x="2931893" y="4129251"/>
            <a:ext cx="6328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AREVALO ROA CAMILO</a:t>
            </a:r>
            <a:endParaRPr lang="es-CO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2A366B9-464E-D756-41A7-053C32843F98}"/>
              </a:ext>
            </a:extLst>
          </p:cNvPr>
          <p:cNvSpPr/>
          <p:nvPr/>
        </p:nvSpPr>
        <p:spPr>
          <a:xfrm>
            <a:off x="-787903" y="-762446"/>
            <a:ext cx="3332899" cy="305570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" name="Imagen 2" descr="Logotipo, nombre de la empresa">
            <a:extLst>
              <a:ext uri="{FF2B5EF4-FFF2-40B4-BE49-F238E27FC236}">
                <a16:creationId xmlns:a16="http://schemas.microsoft.com/office/drawing/2014/main" id="{EEE21048-4DA0-376F-930D-FDA687D20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4358" y="109372"/>
            <a:ext cx="2525808" cy="144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49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5DBBB60-51C5-3D54-062A-572C0A6380D7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9C4426EF-C7E1-41F6-6DF8-2AADDA819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145" y="-108709"/>
            <a:ext cx="1452286" cy="122929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2D35F19-EDA9-BB15-F83F-1F0B2C548E44}"/>
              </a:ext>
            </a:extLst>
          </p:cNvPr>
          <p:cNvSpPr txBox="1"/>
          <p:nvPr/>
        </p:nvSpPr>
        <p:spPr>
          <a:xfrm>
            <a:off x="478970" y="2797052"/>
            <a:ext cx="50338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>
                <a:latin typeface="Calibri" panose="020F0502020204030204" pitchFamily="34" charset="0"/>
                <a:cs typeface="Calibri" panose="020F0502020204030204" pitchFamily="34" charset="0"/>
              </a:rPr>
              <a:t>Florte es una aplicación social educativa diseñada para fortalecer la interacción académica y permitir el almacenamiento de proyectos productivos, facilitando su desarrollo y continuación en colaboración con otros aprendices</a:t>
            </a:r>
            <a:endParaRPr lang="es-CO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4CF268-1021-3AC0-75EE-5ED2B41000F8}"/>
              </a:ext>
            </a:extLst>
          </p:cNvPr>
          <p:cNvSpPr txBox="1"/>
          <p:nvPr/>
        </p:nvSpPr>
        <p:spPr>
          <a:xfrm>
            <a:off x="1960856" y="1966385"/>
            <a:ext cx="2070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Introducción</a:t>
            </a:r>
            <a:endParaRPr lang="es-CO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1FA05D8-0BE9-F165-9C45-1FD837C1CFB6}"/>
              </a:ext>
            </a:extLst>
          </p:cNvPr>
          <p:cNvCxnSpPr>
            <a:cxnSpLocks/>
          </p:cNvCxnSpPr>
          <p:nvPr/>
        </p:nvCxnSpPr>
        <p:spPr>
          <a:xfrm>
            <a:off x="478970" y="2612571"/>
            <a:ext cx="5033891" cy="0"/>
          </a:xfrm>
          <a:prstGeom prst="line">
            <a:avLst/>
          </a:prstGeom>
          <a:ln>
            <a:solidFill>
              <a:srgbClr val="1AD2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0D2C21B4-DA0C-5777-CC48-FA8ED6005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34799" cy="161988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BE375F5-EB5F-B828-DBA1-A48A2A91F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961" y="1826433"/>
            <a:ext cx="5876077" cy="32051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19325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70D472B-D316-BBBC-DC4A-2F74DD99B220}"/>
              </a:ext>
            </a:extLst>
          </p:cNvPr>
          <p:cNvSpPr/>
          <p:nvPr/>
        </p:nvSpPr>
        <p:spPr>
          <a:xfrm>
            <a:off x="0" y="0"/>
            <a:ext cx="12192000" cy="1582057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PROBLEMA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D49770-D4A7-4008-1B1E-BCE7890E87F4}"/>
              </a:ext>
            </a:extLst>
          </p:cNvPr>
          <p:cNvSpPr txBox="1"/>
          <p:nvPr/>
        </p:nvSpPr>
        <p:spPr>
          <a:xfrm>
            <a:off x="174170" y="1582057"/>
            <a:ext cx="82731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PLANTEAMIENTO DEL PROBLEMA</a:t>
            </a:r>
          </a:p>
          <a:p>
            <a:endParaRPr lang="es-MX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2.1 Descripción del Problema</a:t>
            </a:r>
          </a:p>
          <a:p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En el entorno educativo actual, los aprendices enfrentan desafíos significativos para:</a:t>
            </a:r>
          </a:p>
          <a:p>
            <a:endParaRPr lang="es-MX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Comunicación efectiva: 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Dificultad para conectar con compañeros de clase y formar grupos de estudio</a:t>
            </a:r>
          </a:p>
          <a:p>
            <a:endParaRPr lang="es-MX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Colaboración académica: 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Falta de una plataforma centralizada para compartir proyectos y recursos académicos</a:t>
            </a:r>
          </a:p>
          <a:p>
            <a:endParaRPr lang="es-MX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Gestión de información: 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Acceso limitado a bibliotecas digitales y recursos académicos centralizados</a:t>
            </a:r>
          </a:p>
          <a:p>
            <a:endParaRPr lang="es-MX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b="1" dirty="0" err="1">
                <a:latin typeface="Calibri" panose="020F0502020204030204" pitchFamily="34" charset="0"/>
                <a:cs typeface="Calibri" panose="020F0502020204030204" pitchFamily="34" charset="0"/>
              </a:rPr>
              <a:t>Networking</a:t>
            </a:r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 profesional: 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Carencia de espacios digitales para mostrar portafolios y conectar con otros aprendices</a:t>
            </a:r>
            <a:endParaRPr lang="es-CO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3BACC9C4-1BAB-383D-4E6C-055655F21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322" y="-39401"/>
            <a:ext cx="1869035" cy="1582057"/>
          </a:xfrm>
          <a:prstGeom prst="rect">
            <a:avLst/>
          </a:prstGeom>
        </p:spPr>
      </p:pic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F90589EE-41E7-1F3B-A360-74FDFC01D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356" y="5438775"/>
            <a:ext cx="2483644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6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88D05C7-22CC-B1E3-C4AC-0C87A5623006}"/>
              </a:ext>
            </a:extLst>
          </p:cNvPr>
          <p:cNvSpPr/>
          <p:nvPr/>
        </p:nvSpPr>
        <p:spPr>
          <a:xfrm>
            <a:off x="0" y="-1"/>
            <a:ext cx="12192000" cy="1683657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Objetivo General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AE1A7922-48AF-5053-B351-6806E0708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9788" y="-1"/>
            <a:ext cx="1989065" cy="168365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3C78549-C377-8E85-A196-41028D028882}"/>
              </a:ext>
            </a:extLst>
          </p:cNvPr>
          <p:cNvSpPr txBox="1"/>
          <p:nvPr/>
        </p:nvSpPr>
        <p:spPr>
          <a:xfrm>
            <a:off x="283028" y="2649754"/>
            <a:ext cx="596701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latin typeface="Calibri" panose="020F0502020204030204" pitchFamily="34" charset="0"/>
                <a:cs typeface="Calibri" panose="020F0502020204030204" pitchFamily="34" charset="0"/>
              </a:rPr>
              <a:t>Desarrollar una aplicación web y </a:t>
            </a:r>
            <a:r>
              <a:rPr lang="es-MX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movil</a:t>
            </a:r>
            <a:r>
              <a:rPr lang="es-MX" sz="2400" dirty="0">
                <a:latin typeface="Calibri" panose="020F0502020204030204" pitchFamily="34" charset="0"/>
                <a:cs typeface="Calibri" panose="020F0502020204030204" pitchFamily="34" charset="0"/>
              </a:rPr>
              <a:t> full-</a:t>
            </a:r>
            <a:r>
              <a:rPr lang="es-MX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stack</a:t>
            </a:r>
            <a:r>
              <a:rPr lang="es-MX" sz="2400" dirty="0">
                <a:latin typeface="Calibri" panose="020F0502020204030204" pitchFamily="34" charset="0"/>
                <a:cs typeface="Calibri" panose="020F0502020204030204" pitchFamily="34" charset="0"/>
              </a:rPr>
              <a:t> que funcione como red social SENA, integrando funcionalidades de comunicación, colaboración académica y gestión de recursos bibliográficos, mediante una arquitectura basada en </a:t>
            </a:r>
            <a:r>
              <a:rPr lang="es-MX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APIs</a:t>
            </a:r>
            <a:r>
              <a:rPr lang="es-MX" sz="2400" dirty="0">
                <a:latin typeface="Calibri" panose="020F0502020204030204" pitchFamily="34" charset="0"/>
                <a:cs typeface="Calibri" panose="020F0502020204030204" pitchFamily="34" charset="0"/>
              </a:rPr>
              <a:t> REST y buenas prácticas de desarrollo de software.</a:t>
            </a:r>
            <a:endParaRPr lang="es-CO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67A944-CD54-C8B3-F8AC-3A0A5CF0C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960" y="2433269"/>
            <a:ext cx="5702812" cy="3110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4408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4EEE1D7-9528-D8F9-A739-4C8A4EBCD502}"/>
              </a:ext>
            </a:extLst>
          </p:cNvPr>
          <p:cNvSpPr/>
          <p:nvPr/>
        </p:nvSpPr>
        <p:spPr>
          <a:xfrm>
            <a:off x="0" y="0"/>
            <a:ext cx="12192000" cy="1698171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Objetivos Específicos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3E55B224-606C-38B1-E6DC-CD8706164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732" y="-1"/>
            <a:ext cx="2006213" cy="169817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18AFBA9-9877-4755-2E6C-5EC672B48C46}"/>
              </a:ext>
            </a:extLst>
          </p:cNvPr>
          <p:cNvSpPr txBox="1"/>
          <p:nvPr/>
        </p:nvSpPr>
        <p:spPr>
          <a:xfrm>
            <a:off x="0" y="1698171"/>
            <a:ext cx="6502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Implementar un sistema de autenticación y perfiles de usuario que permita a los estudiantes crear y gestionar sus perfiles académicos y profesionales.</a:t>
            </a:r>
          </a:p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Desarrollar un sistema de comunicación en tiempo real mediante chats privados y grupales con soporte para mensajería multimedia.</a:t>
            </a:r>
          </a:p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Crear un módulo de publicaciones y </a:t>
            </a:r>
            <a:r>
              <a:rPr lang="es-MX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feed</a:t>
            </a: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 social que permita compartir contenido académico, proyectos y actualizaciones entre estudiantes.</a:t>
            </a:r>
          </a:p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Implementar un sistema de grupos colaborativos con canales de texto y voz para facilitar el trabajo en equipo.</a:t>
            </a:r>
          </a:p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Integrar una biblioteca académica digital con sistema de búsqueda y gestión de recursos bibliográficos.</a:t>
            </a:r>
          </a:p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Construir una arquitectura basada en </a:t>
            </a:r>
            <a:r>
              <a:rPr lang="es-MX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APIs</a:t>
            </a: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 REST siguiendo estándares de la industria para garantizar escalabilidad y mantenibilidad.</a:t>
            </a:r>
          </a:p>
          <a:p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Implementar medidas de seguridad robustas mediante </a:t>
            </a:r>
            <a:r>
              <a:rPr lang="es-MX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Row</a:t>
            </a: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Level</a:t>
            </a: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 Security (RLS) y autenticación JWT.</a:t>
            </a:r>
            <a:endParaRPr lang="es-CO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E5F9520-D63F-6B4A-AF33-78B6BA97A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639" y="2082295"/>
            <a:ext cx="5693122" cy="31053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8938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4D30810-0770-9DFD-39D8-9A4BC35E62B5}"/>
              </a:ext>
            </a:extLst>
          </p:cNvPr>
          <p:cNvSpPr/>
          <p:nvPr/>
        </p:nvSpPr>
        <p:spPr>
          <a:xfrm>
            <a:off x="0" y="0"/>
            <a:ext cx="12192000" cy="1669143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Justificación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C00945AD-AD83-8127-46E0-2EFB91CD7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361" y="-76684"/>
            <a:ext cx="2153104" cy="182250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A01E503-5B4E-A4F4-31F2-B70E656F1197}"/>
              </a:ext>
            </a:extLst>
          </p:cNvPr>
          <p:cNvSpPr txBox="1"/>
          <p:nvPr/>
        </p:nvSpPr>
        <p:spPr>
          <a:xfrm>
            <a:off x="65315" y="2249854"/>
            <a:ext cx="603068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creación de una red social SENA especializada permitirá:</a:t>
            </a:r>
          </a:p>
          <a:p>
            <a:endParaRPr lang="es-MX" dirty="0"/>
          </a:p>
          <a:p>
            <a:r>
              <a:rPr lang="es-MX" dirty="0"/>
              <a:t>Innovar la comunicación entre estudiantes mediante chats privados y grupales personalizados</a:t>
            </a:r>
          </a:p>
          <a:p>
            <a:endParaRPr lang="es-MX" dirty="0"/>
          </a:p>
          <a:p>
            <a:r>
              <a:rPr lang="es-MX" dirty="0"/>
              <a:t>Facilitar la colaboración en proyectos académicos</a:t>
            </a:r>
          </a:p>
          <a:p>
            <a:r>
              <a:rPr lang="es-MX" dirty="0"/>
              <a:t>Optimizar recursos y búsquedas para todos</a:t>
            </a:r>
          </a:p>
          <a:p>
            <a:endParaRPr lang="es-MX" dirty="0"/>
          </a:p>
          <a:p>
            <a:r>
              <a:rPr lang="es-MX" dirty="0"/>
              <a:t>Centralizar el acceso a recursos académicos digitales</a:t>
            </a:r>
          </a:p>
          <a:p>
            <a:r>
              <a:rPr lang="es-MX" dirty="0"/>
              <a:t>Promover el </a:t>
            </a:r>
            <a:r>
              <a:rPr lang="es-MX" dirty="0" err="1"/>
              <a:t>networking</a:t>
            </a:r>
            <a:r>
              <a:rPr lang="es-MX" dirty="0"/>
              <a:t> profesional entre aprendices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8E38F5-058C-E61C-461E-B7C104001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49442"/>
            <a:ext cx="5975664" cy="325945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50520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441487-A17C-0477-C40E-A2F35DA0947E}"/>
              </a:ext>
            </a:extLst>
          </p:cNvPr>
          <p:cNvSpPr/>
          <p:nvPr/>
        </p:nvSpPr>
        <p:spPr>
          <a:xfrm>
            <a:off x="0" y="0"/>
            <a:ext cx="12192000" cy="1272988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ALCANCE DEL PROYECTO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98070F-610D-DB84-E9DE-BDDE5140FF29}"/>
              </a:ext>
            </a:extLst>
          </p:cNvPr>
          <p:cNvSpPr txBox="1"/>
          <p:nvPr/>
        </p:nvSpPr>
        <p:spPr>
          <a:xfrm>
            <a:off x="89646" y="1346137"/>
            <a:ext cx="916192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Alcance Funcional</a:t>
            </a:r>
          </a:p>
          <a:p>
            <a:endParaRPr lang="es-MX" dirty="0"/>
          </a:p>
          <a:p>
            <a:r>
              <a:rPr lang="es-MX" b="1" dirty="0"/>
              <a:t>El proyecto incluye:</a:t>
            </a:r>
          </a:p>
          <a:p>
            <a:endParaRPr lang="es-MX" dirty="0"/>
          </a:p>
          <a:p>
            <a:r>
              <a:rPr lang="es-MX" dirty="0"/>
              <a:t>✅ Sistema completo de autenticación de usuarios</a:t>
            </a:r>
          </a:p>
          <a:p>
            <a:r>
              <a:rPr lang="es-MX" dirty="0"/>
              <a:t>✅ Gestión de perfiles personalizados con información académica y profesional </a:t>
            </a:r>
          </a:p>
          <a:p>
            <a:r>
              <a:rPr lang="es-MX" dirty="0"/>
              <a:t>✅ </a:t>
            </a:r>
            <a:r>
              <a:rPr lang="es-MX" dirty="0" err="1"/>
              <a:t>Feed</a:t>
            </a:r>
            <a:r>
              <a:rPr lang="es-MX" dirty="0"/>
              <a:t> de publicaciones con reacciones y comentarios </a:t>
            </a:r>
          </a:p>
          <a:p>
            <a:r>
              <a:rPr lang="es-MX" dirty="0"/>
              <a:t>✅ Sistema de historias efímeras (24 horas) </a:t>
            </a:r>
          </a:p>
          <a:p>
            <a:r>
              <a:rPr lang="es-MX" dirty="0"/>
              <a:t>✅ Chat privado uno a uno con mensajería multimedia </a:t>
            </a:r>
          </a:p>
          <a:p>
            <a:r>
              <a:rPr lang="es-MX" dirty="0"/>
              <a:t>✅ Grupos colaborativos con múltiples canales de comunicación </a:t>
            </a:r>
          </a:p>
          <a:p>
            <a:r>
              <a:rPr lang="es-MX" dirty="0"/>
              <a:t>✅ Sistema de solicitudes y gestión de amistades </a:t>
            </a:r>
          </a:p>
          <a:p>
            <a:r>
              <a:rPr lang="es-MX" dirty="0"/>
              <a:t>✅ Biblioteca académica con búsqueda de libros </a:t>
            </a:r>
          </a:p>
          <a:p>
            <a:r>
              <a:rPr lang="es-MX" dirty="0"/>
              <a:t>✅ Portafolio de proyectos por usuario </a:t>
            </a:r>
          </a:p>
          <a:p>
            <a:r>
              <a:rPr lang="es-MX" dirty="0"/>
              <a:t>✅ 6 </a:t>
            </a:r>
            <a:r>
              <a:rPr lang="es-MX" dirty="0" err="1"/>
              <a:t>APIs</a:t>
            </a:r>
            <a:r>
              <a:rPr lang="es-MX" dirty="0"/>
              <a:t> REST completamente documentadas </a:t>
            </a:r>
          </a:p>
          <a:p>
            <a:r>
              <a:rPr lang="es-MX" dirty="0"/>
              <a:t>✅ Base de datos relacional con 17 tablas </a:t>
            </a:r>
          </a:p>
          <a:p>
            <a:r>
              <a:rPr lang="es-MX" dirty="0"/>
              <a:t>✅ Sistema de almacenamiento de archivos multimedia</a:t>
            </a:r>
          </a:p>
        </p:txBody>
      </p:sp>
      <p:pic>
        <p:nvPicPr>
          <p:cNvPr id="6" name="Imagen 5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B775D98-1531-7580-073F-FD487EBBD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792" y="5074024"/>
            <a:ext cx="3121958" cy="1783976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8DD45BB8-B3E3-4D8C-FFD6-2EBA302A0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8471" y="-127089"/>
            <a:ext cx="1804186" cy="152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84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78A3DD3-9DBB-5EC4-E667-A6F6AC6681CE}"/>
              </a:ext>
            </a:extLst>
          </p:cNvPr>
          <p:cNvSpPr/>
          <p:nvPr/>
        </p:nvSpPr>
        <p:spPr>
          <a:xfrm>
            <a:off x="0" y="0"/>
            <a:ext cx="12192000" cy="1192306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Alcance Técnico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FCF082-1A57-5269-3C76-C27339792E04}"/>
              </a:ext>
            </a:extLst>
          </p:cNvPr>
          <p:cNvSpPr txBox="1"/>
          <p:nvPr/>
        </p:nvSpPr>
        <p:spPr>
          <a:xfrm>
            <a:off x="0" y="1225689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Frontend</a:t>
            </a:r>
            <a:r>
              <a:rPr lang="es-MX" b="1" dirty="0"/>
              <a:t>:</a:t>
            </a:r>
          </a:p>
          <a:p>
            <a:endParaRPr lang="es-MX" dirty="0"/>
          </a:p>
          <a:p>
            <a:r>
              <a:rPr lang="es-MX" dirty="0"/>
              <a:t>Single Page </a:t>
            </a:r>
            <a:r>
              <a:rPr lang="es-MX" dirty="0" err="1"/>
              <a:t>Application</a:t>
            </a:r>
            <a:r>
              <a:rPr lang="es-MX" dirty="0"/>
              <a:t> (SPA) con </a:t>
            </a:r>
            <a:r>
              <a:rPr lang="es-MX" dirty="0" err="1"/>
              <a:t>React</a:t>
            </a:r>
            <a:r>
              <a:rPr lang="es-MX" dirty="0"/>
              <a:t> 18</a:t>
            </a:r>
          </a:p>
          <a:p>
            <a:r>
              <a:rPr lang="es-MX" dirty="0" err="1"/>
              <a:t>TypeScript</a:t>
            </a:r>
            <a:r>
              <a:rPr lang="es-MX" dirty="0"/>
              <a:t> para tipado estático</a:t>
            </a:r>
          </a:p>
          <a:p>
            <a:r>
              <a:rPr lang="es-MX" dirty="0" err="1"/>
              <a:t>Tailwind</a:t>
            </a:r>
            <a:r>
              <a:rPr lang="es-MX" dirty="0"/>
              <a:t> CSS para diseño responsive</a:t>
            </a:r>
          </a:p>
          <a:p>
            <a:r>
              <a:rPr lang="es-MX" dirty="0" err="1"/>
              <a:t>React</a:t>
            </a:r>
            <a:r>
              <a:rPr lang="es-MX" dirty="0"/>
              <a:t> </a:t>
            </a:r>
            <a:r>
              <a:rPr lang="es-MX" dirty="0" err="1"/>
              <a:t>Router</a:t>
            </a:r>
            <a:r>
              <a:rPr lang="es-MX" dirty="0"/>
              <a:t> para navegación</a:t>
            </a:r>
          </a:p>
          <a:p>
            <a:r>
              <a:rPr lang="es-MX" dirty="0" err="1"/>
              <a:t>React</a:t>
            </a:r>
            <a:r>
              <a:rPr lang="es-MX" dirty="0"/>
              <a:t> </a:t>
            </a:r>
            <a:r>
              <a:rPr lang="es-MX" dirty="0" err="1"/>
              <a:t>Query</a:t>
            </a:r>
            <a:r>
              <a:rPr lang="es-MX" dirty="0"/>
              <a:t> para gestión de estado servidor</a:t>
            </a:r>
          </a:p>
          <a:p>
            <a:r>
              <a:rPr lang="es-MX" b="1" dirty="0" err="1"/>
              <a:t>Backend</a:t>
            </a:r>
            <a:r>
              <a:rPr lang="es-MX" b="1" dirty="0"/>
              <a:t>:</a:t>
            </a:r>
          </a:p>
          <a:p>
            <a:endParaRPr lang="es-MX" dirty="0"/>
          </a:p>
          <a:p>
            <a:r>
              <a:rPr lang="es-MX" dirty="0"/>
              <a:t> </a:t>
            </a:r>
            <a:r>
              <a:rPr lang="es-MX" dirty="0" err="1"/>
              <a:t>Supabase</a:t>
            </a:r>
            <a:r>
              <a:rPr lang="es-MX" dirty="0"/>
              <a:t> Edge </a:t>
            </a:r>
            <a:r>
              <a:rPr lang="es-MX" dirty="0" err="1"/>
              <a:t>Functions</a:t>
            </a:r>
            <a:r>
              <a:rPr lang="es-MX" dirty="0"/>
              <a:t> (</a:t>
            </a:r>
            <a:r>
              <a:rPr lang="es-MX" dirty="0" err="1"/>
              <a:t>APIs</a:t>
            </a:r>
            <a:r>
              <a:rPr lang="es-MX" dirty="0"/>
              <a:t> REST)</a:t>
            </a:r>
          </a:p>
          <a:p>
            <a:r>
              <a:rPr lang="es-MX" dirty="0"/>
              <a:t>PostgreSQL como base de datos</a:t>
            </a:r>
          </a:p>
          <a:p>
            <a:r>
              <a:rPr lang="es-MX" dirty="0" err="1"/>
              <a:t>Row</a:t>
            </a:r>
            <a:r>
              <a:rPr lang="es-MX" dirty="0"/>
              <a:t> </a:t>
            </a:r>
            <a:r>
              <a:rPr lang="es-MX" dirty="0" err="1"/>
              <a:t>Level</a:t>
            </a:r>
            <a:r>
              <a:rPr lang="es-MX" dirty="0"/>
              <a:t> Security (RLS) para seguridad</a:t>
            </a:r>
          </a:p>
          <a:p>
            <a:r>
              <a:rPr lang="es-MX" dirty="0" err="1"/>
              <a:t>Supabase</a:t>
            </a:r>
            <a:r>
              <a:rPr lang="es-MX" dirty="0"/>
              <a:t> </a:t>
            </a:r>
            <a:r>
              <a:rPr lang="es-MX" dirty="0" err="1"/>
              <a:t>Auth</a:t>
            </a:r>
            <a:r>
              <a:rPr lang="es-MX" dirty="0"/>
              <a:t> para autenticación JWT</a:t>
            </a:r>
          </a:p>
          <a:p>
            <a:r>
              <a:rPr lang="es-MX" dirty="0" err="1"/>
              <a:t>Supabase</a:t>
            </a:r>
            <a:r>
              <a:rPr lang="es-MX" dirty="0"/>
              <a:t> Storage para archivos multimedia</a:t>
            </a:r>
          </a:p>
          <a:p>
            <a:r>
              <a:rPr lang="es-MX" dirty="0"/>
              <a:t>Arquitectura:</a:t>
            </a:r>
          </a:p>
          <a:p>
            <a:endParaRPr lang="es-MX" dirty="0"/>
          </a:p>
          <a:p>
            <a:r>
              <a:rPr lang="es-MX" dirty="0"/>
              <a:t>Arquitectura basada en microservicios (Edge </a:t>
            </a:r>
            <a:r>
              <a:rPr lang="es-MX" dirty="0" err="1"/>
              <a:t>Functions</a:t>
            </a:r>
            <a:r>
              <a:rPr lang="es-MX" dirty="0"/>
              <a:t>)</a:t>
            </a:r>
          </a:p>
          <a:p>
            <a:r>
              <a:rPr lang="es-MX" dirty="0"/>
              <a:t>Comunicación mediante </a:t>
            </a:r>
            <a:r>
              <a:rPr lang="es-MX" dirty="0" err="1"/>
              <a:t>APIs</a:t>
            </a:r>
            <a:r>
              <a:rPr lang="es-MX" dirty="0"/>
              <a:t> REST</a:t>
            </a:r>
          </a:p>
          <a:p>
            <a:r>
              <a:rPr lang="es-MX" dirty="0"/>
              <a:t>Real-time con </a:t>
            </a:r>
            <a:r>
              <a:rPr lang="es-MX" dirty="0" err="1"/>
              <a:t>Supabase</a:t>
            </a:r>
            <a:r>
              <a:rPr lang="es-MX" dirty="0"/>
              <a:t> </a:t>
            </a:r>
            <a:r>
              <a:rPr lang="es-MX" dirty="0" err="1"/>
              <a:t>Subscriptions</a:t>
            </a:r>
            <a:endParaRPr lang="es-MX" dirty="0"/>
          </a:p>
          <a:p>
            <a:r>
              <a:rPr lang="es-MX" dirty="0"/>
              <a:t>Diseño modular y escalable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E25743-1A88-22D9-B7E8-5BD6623A0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104" y="5665694"/>
            <a:ext cx="2083484" cy="119230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7E7C932-2BC4-CF8D-2097-58B75E855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360" y="1840604"/>
            <a:ext cx="6656182" cy="363064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11405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AB4D2-8C72-65E7-F6B3-57DAC933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6E657D1-64FF-EF35-6078-19D895D86CFB}"/>
              </a:ext>
            </a:extLst>
          </p:cNvPr>
          <p:cNvSpPr/>
          <p:nvPr/>
        </p:nvSpPr>
        <p:spPr>
          <a:xfrm>
            <a:off x="0" y="0"/>
            <a:ext cx="12192000" cy="1669143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MÓDULOS DEL SISTEMA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7DC7F29C-2C94-831B-04F1-A1BAFF789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361" y="-76684"/>
            <a:ext cx="2153104" cy="182250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F7C549D-301B-12ED-D312-EDB50C094186}"/>
              </a:ext>
            </a:extLst>
          </p:cNvPr>
          <p:cNvSpPr txBox="1"/>
          <p:nvPr/>
        </p:nvSpPr>
        <p:spPr>
          <a:xfrm>
            <a:off x="65315" y="2249854"/>
            <a:ext cx="603068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Módulo de Autenticación y Perfiles</a:t>
            </a:r>
          </a:p>
          <a:p>
            <a:endParaRPr lang="es-MX" b="1" dirty="0"/>
          </a:p>
          <a:p>
            <a:r>
              <a:rPr lang="es-MX" dirty="0"/>
              <a:t>Funcionalidades:</a:t>
            </a:r>
          </a:p>
          <a:p>
            <a:endParaRPr lang="es-MX" dirty="0"/>
          </a:p>
          <a:p>
            <a:r>
              <a:rPr lang="es-MX" dirty="0"/>
              <a:t>Registro de usuarios con email y contraseña</a:t>
            </a:r>
          </a:p>
          <a:p>
            <a:r>
              <a:rPr lang="es-MX" dirty="0"/>
              <a:t>Inicio de sesión seguro con JWT</a:t>
            </a:r>
          </a:p>
          <a:p>
            <a:endParaRPr lang="es-MX" dirty="0"/>
          </a:p>
          <a:p>
            <a:r>
              <a:rPr lang="es-MX" dirty="0"/>
              <a:t>Gestión de perfiles personalizados</a:t>
            </a:r>
          </a:p>
          <a:p>
            <a:r>
              <a:rPr lang="es-MX" dirty="0"/>
              <a:t>Carga de avatar y foto de perfil</a:t>
            </a:r>
          </a:p>
          <a:p>
            <a:endParaRPr lang="es-MX" dirty="0"/>
          </a:p>
          <a:p>
            <a:r>
              <a:rPr lang="es-MX" dirty="0"/>
              <a:t>Información académica (CEET, programa, año de graduación)</a:t>
            </a:r>
          </a:p>
          <a:p>
            <a:endParaRPr lang="es-MX" dirty="0"/>
          </a:p>
          <a:p>
            <a:r>
              <a:rPr lang="es-MX" dirty="0"/>
              <a:t>Enlaces a redes sociales profesionales (GitHub, LinkedIn)</a:t>
            </a:r>
          </a:p>
          <a:p>
            <a:r>
              <a:rPr lang="es-MX" dirty="0"/>
              <a:t>Gestión de habilidades y biografía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140BF4-3284-9E25-82DF-A3CDE776E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577" y="5071717"/>
            <a:ext cx="3121423" cy="17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93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2ECB8-D43B-0159-3E7E-F05BBD10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B99870F-99F3-1D87-2521-655BB6357D6E}"/>
              </a:ext>
            </a:extLst>
          </p:cNvPr>
          <p:cNvSpPr/>
          <p:nvPr/>
        </p:nvSpPr>
        <p:spPr>
          <a:xfrm>
            <a:off x="0" y="0"/>
            <a:ext cx="12192000" cy="1669143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MÓDULOS DEL SISTEMA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F412B057-98A6-1378-A8DA-23C8DF2FA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361" y="-76684"/>
            <a:ext cx="2153104" cy="182250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0F804B6-BF28-389A-9584-B68CE27C3412}"/>
              </a:ext>
            </a:extLst>
          </p:cNvPr>
          <p:cNvSpPr txBox="1"/>
          <p:nvPr/>
        </p:nvSpPr>
        <p:spPr>
          <a:xfrm>
            <a:off x="114301" y="2091062"/>
            <a:ext cx="99531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Módulo de Red Social (</a:t>
            </a:r>
            <a:r>
              <a:rPr lang="es-MX" b="1" dirty="0" err="1"/>
              <a:t>Feed</a:t>
            </a:r>
            <a:r>
              <a:rPr lang="es-MX" b="1" dirty="0"/>
              <a:t>)</a:t>
            </a:r>
          </a:p>
          <a:p>
            <a:r>
              <a:rPr lang="es-MX" b="1" dirty="0"/>
              <a:t>Funcionalidades:</a:t>
            </a:r>
          </a:p>
          <a:p>
            <a:endParaRPr lang="es-MX" dirty="0"/>
          </a:p>
          <a:p>
            <a:r>
              <a:rPr lang="es-MX" dirty="0"/>
              <a:t>Crear publicaciones con texto y multimedia</a:t>
            </a:r>
          </a:p>
          <a:p>
            <a:r>
              <a:rPr lang="es-MX" dirty="0"/>
              <a:t>Reaccionar a publicaciones con emojis</a:t>
            </a:r>
          </a:p>
          <a:p>
            <a:r>
              <a:rPr lang="es-MX" dirty="0"/>
              <a:t>Comentar en publicaciones</a:t>
            </a:r>
          </a:p>
          <a:p>
            <a:r>
              <a:rPr lang="es-MX" dirty="0"/>
              <a:t>Ver </a:t>
            </a:r>
            <a:r>
              <a:rPr lang="es-MX" dirty="0" err="1"/>
              <a:t>feed</a:t>
            </a:r>
            <a:r>
              <a:rPr lang="es-MX" dirty="0"/>
              <a:t> ordenado cronológicamente</a:t>
            </a:r>
          </a:p>
          <a:p>
            <a:r>
              <a:rPr lang="es-MX" dirty="0"/>
              <a:t>Cargar medios (imágenes, videos)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C76A69-2695-AC3A-BF70-5DFE0B669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577" y="5071717"/>
            <a:ext cx="3121423" cy="17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3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326C-6B0E-BE9A-42A8-88DB651E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403975C-8D5B-BECF-78EE-CC837B0CC5D8}"/>
              </a:ext>
            </a:extLst>
          </p:cNvPr>
          <p:cNvSpPr/>
          <p:nvPr/>
        </p:nvSpPr>
        <p:spPr>
          <a:xfrm>
            <a:off x="0" y="0"/>
            <a:ext cx="12192000" cy="1669143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MÓDULOS DEL SISTEMA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C11F5144-DC85-17E2-1AE6-E8D54842C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361" y="-76684"/>
            <a:ext cx="2153104" cy="182250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98FAA22-9256-CCCB-27BB-ABD332A20C2E}"/>
              </a:ext>
            </a:extLst>
          </p:cNvPr>
          <p:cNvSpPr txBox="1"/>
          <p:nvPr/>
        </p:nvSpPr>
        <p:spPr>
          <a:xfrm>
            <a:off x="266701" y="2328174"/>
            <a:ext cx="62887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Módulo de Historias</a:t>
            </a:r>
          </a:p>
          <a:p>
            <a:r>
              <a:rPr lang="es-MX" b="1" dirty="0"/>
              <a:t>Funcionalidades:</a:t>
            </a:r>
          </a:p>
          <a:p>
            <a:endParaRPr lang="es-MX" dirty="0"/>
          </a:p>
          <a:p>
            <a:r>
              <a:rPr lang="es-MX" dirty="0"/>
              <a:t>Crear historias con foto o video</a:t>
            </a:r>
          </a:p>
          <a:p>
            <a:r>
              <a:rPr lang="es-MX" dirty="0"/>
              <a:t>Visualizar historias de amigos</a:t>
            </a:r>
          </a:p>
          <a:p>
            <a:r>
              <a:rPr lang="es-MX" dirty="0"/>
              <a:t>Expiración automática después de 24 horas</a:t>
            </a:r>
          </a:p>
          <a:p>
            <a:r>
              <a:rPr lang="es-MX" dirty="0"/>
              <a:t>Agregar </a:t>
            </a:r>
            <a:r>
              <a:rPr lang="es-MX" dirty="0" err="1"/>
              <a:t>caption</a:t>
            </a:r>
            <a:r>
              <a:rPr lang="es-MX" dirty="0"/>
              <a:t> a historias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771363-B4D8-8443-2EFE-ABFB1419B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577" y="5071717"/>
            <a:ext cx="3121423" cy="17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5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2A20B-40D3-305C-495B-3468B0B6C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21FD168-4775-8AD4-C0FC-C5A94351689F}"/>
              </a:ext>
            </a:extLst>
          </p:cNvPr>
          <p:cNvSpPr/>
          <p:nvPr/>
        </p:nvSpPr>
        <p:spPr>
          <a:xfrm>
            <a:off x="0" y="0"/>
            <a:ext cx="12192000" cy="1669143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MÓDULOS DEL SISTEMA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5C2BA8A7-A6BD-04B1-2173-09B74DFA9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361" y="-76684"/>
            <a:ext cx="2153104" cy="182250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BD35CB5-551B-E40C-D137-79713F89BC2D}"/>
              </a:ext>
            </a:extLst>
          </p:cNvPr>
          <p:cNvSpPr txBox="1"/>
          <p:nvPr/>
        </p:nvSpPr>
        <p:spPr>
          <a:xfrm>
            <a:off x="114300" y="2055203"/>
            <a:ext cx="62887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Módulo de Amistades</a:t>
            </a:r>
          </a:p>
          <a:p>
            <a:r>
              <a:rPr lang="es-MX" b="1" dirty="0"/>
              <a:t>Funcionalidades:</a:t>
            </a:r>
          </a:p>
          <a:p>
            <a:endParaRPr lang="es-MX" dirty="0"/>
          </a:p>
          <a:p>
            <a:r>
              <a:rPr lang="es-MX" dirty="0"/>
              <a:t>Enviar solicitudes de amistad</a:t>
            </a:r>
          </a:p>
          <a:p>
            <a:r>
              <a:rPr lang="es-MX" dirty="0"/>
              <a:t>Aceptar o rechazar solicitudes</a:t>
            </a:r>
          </a:p>
          <a:p>
            <a:r>
              <a:rPr lang="es-MX" dirty="0"/>
              <a:t>Listar amigos</a:t>
            </a:r>
          </a:p>
          <a:p>
            <a:r>
              <a:rPr lang="es-MX" dirty="0"/>
              <a:t>Ver perfiles de usuarios sugeridos</a:t>
            </a:r>
          </a:p>
          <a:p>
            <a:r>
              <a:rPr lang="es-MX" dirty="0"/>
              <a:t>Buscar usuarios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10926C-4DB1-9801-F658-688111F2D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577" y="4989347"/>
            <a:ext cx="3121423" cy="17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77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301C-1745-8FC7-FB51-356289809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DA948E9-84FB-5745-824E-95CA17F94708}"/>
              </a:ext>
            </a:extLst>
          </p:cNvPr>
          <p:cNvSpPr/>
          <p:nvPr/>
        </p:nvSpPr>
        <p:spPr>
          <a:xfrm>
            <a:off x="0" y="0"/>
            <a:ext cx="12192000" cy="1669143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MÓDULOS DEL SISTEMA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8B003472-6280-0374-0EE9-9F4BD0247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361" y="-76684"/>
            <a:ext cx="2153104" cy="18225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86FF366-7A55-9AE9-E2F5-264E37AC2324}"/>
              </a:ext>
            </a:extLst>
          </p:cNvPr>
          <p:cNvSpPr txBox="1"/>
          <p:nvPr/>
        </p:nvSpPr>
        <p:spPr>
          <a:xfrm>
            <a:off x="311524" y="2274838"/>
            <a:ext cx="62887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Módulo de Chat Privado</a:t>
            </a:r>
          </a:p>
          <a:p>
            <a:r>
              <a:rPr lang="es-MX" b="1" dirty="0"/>
              <a:t>Funcionalidades:</a:t>
            </a:r>
          </a:p>
          <a:p>
            <a:endParaRPr lang="es-MX" dirty="0"/>
          </a:p>
          <a:p>
            <a:r>
              <a:rPr lang="es-MX" dirty="0"/>
              <a:t>Chat uno a uno en tiempo real</a:t>
            </a:r>
          </a:p>
          <a:p>
            <a:r>
              <a:rPr lang="es-MX" dirty="0"/>
              <a:t>Envío de mensajes de texto</a:t>
            </a:r>
          </a:p>
          <a:p>
            <a:r>
              <a:rPr lang="es-MX" dirty="0"/>
              <a:t>Envío de archivos multimedia</a:t>
            </a:r>
          </a:p>
          <a:p>
            <a:r>
              <a:rPr lang="es-MX" dirty="0"/>
              <a:t>Indicador de mensajes leídos</a:t>
            </a:r>
          </a:p>
          <a:p>
            <a:r>
              <a:rPr lang="es-MX" dirty="0"/>
              <a:t>Historial de conversaciones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369289-89CC-CCCD-B1DD-1F41AC77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577" y="5071717"/>
            <a:ext cx="3121423" cy="17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16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6161F-07DC-2809-562A-C8A7E7D0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6B3382B-11A7-FCF8-7833-45591731DC76}"/>
              </a:ext>
            </a:extLst>
          </p:cNvPr>
          <p:cNvSpPr/>
          <p:nvPr/>
        </p:nvSpPr>
        <p:spPr>
          <a:xfrm>
            <a:off x="0" y="0"/>
            <a:ext cx="12192000" cy="1669143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MÓDULOS DEL SISTEMA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39A15468-99F6-1B01-4BC3-1CE770A5E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361" y="-76684"/>
            <a:ext cx="2153104" cy="18225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606DF2F-B4B6-128A-3CF9-5672F713782B}"/>
              </a:ext>
            </a:extLst>
          </p:cNvPr>
          <p:cNvSpPr txBox="1"/>
          <p:nvPr/>
        </p:nvSpPr>
        <p:spPr>
          <a:xfrm>
            <a:off x="159125" y="2136338"/>
            <a:ext cx="62887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Módulo de Grupos Colaborativos</a:t>
            </a:r>
          </a:p>
          <a:p>
            <a:r>
              <a:rPr lang="es-MX" b="1" dirty="0"/>
              <a:t>Funcionalidades:</a:t>
            </a:r>
          </a:p>
          <a:p>
            <a:endParaRPr lang="es-MX" dirty="0"/>
          </a:p>
          <a:p>
            <a:r>
              <a:rPr lang="es-MX" dirty="0"/>
              <a:t>Crear grupos temáticos</a:t>
            </a:r>
          </a:p>
          <a:p>
            <a:r>
              <a:rPr lang="es-MX" dirty="0"/>
              <a:t>Gestionar miembros (roles de </a:t>
            </a:r>
            <a:r>
              <a:rPr lang="es-MX" dirty="0" err="1"/>
              <a:t>admin</a:t>
            </a:r>
            <a:r>
              <a:rPr lang="es-MX" dirty="0"/>
              <a:t> y </a:t>
            </a:r>
            <a:r>
              <a:rPr lang="es-MX" dirty="0" err="1"/>
              <a:t>member</a:t>
            </a:r>
            <a:r>
              <a:rPr lang="es-MX" dirty="0"/>
              <a:t>)</a:t>
            </a:r>
          </a:p>
          <a:p>
            <a:r>
              <a:rPr lang="es-MX" dirty="0"/>
              <a:t>Crear múltiples canales de texto</a:t>
            </a:r>
          </a:p>
          <a:p>
            <a:r>
              <a:rPr lang="es-MX" dirty="0"/>
              <a:t>Canales de voz</a:t>
            </a:r>
          </a:p>
          <a:p>
            <a:r>
              <a:rPr lang="es-MX" dirty="0"/>
              <a:t>Enviar mensajes con multimedia en canales</a:t>
            </a:r>
          </a:p>
          <a:p>
            <a:r>
              <a:rPr lang="es-MX" dirty="0"/>
              <a:t>Personalizar grupos con imagen de fondo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4E0AD9-6137-43D9-A1C4-1107E2052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577" y="4980294"/>
            <a:ext cx="3121423" cy="17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73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745B-CB17-2CC5-2214-DF20CC83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CAFC6E1-4C12-243D-925E-60405AB20ACF}"/>
              </a:ext>
            </a:extLst>
          </p:cNvPr>
          <p:cNvSpPr/>
          <p:nvPr/>
        </p:nvSpPr>
        <p:spPr>
          <a:xfrm>
            <a:off x="0" y="0"/>
            <a:ext cx="12192000" cy="1669143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MÓDULOS DEL SISTEMA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3B345A7C-8BCA-1C2A-4004-E023A3FB6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361" y="-76684"/>
            <a:ext cx="2153104" cy="18225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FE84CE4-32DE-2326-FA2F-D3627AF7AD6B}"/>
              </a:ext>
            </a:extLst>
          </p:cNvPr>
          <p:cNvSpPr txBox="1"/>
          <p:nvPr/>
        </p:nvSpPr>
        <p:spPr>
          <a:xfrm>
            <a:off x="105336" y="2413337"/>
            <a:ext cx="62887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Módulo de Biblioteca Académica</a:t>
            </a:r>
          </a:p>
          <a:p>
            <a:r>
              <a:rPr lang="es-MX" dirty="0"/>
              <a:t>Funcionalidades:</a:t>
            </a:r>
          </a:p>
          <a:p>
            <a:endParaRPr lang="es-MX" dirty="0"/>
          </a:p>
          <a:p>
            <a:r>
              <a:rPr lang="es-MX" dirty="0"/>
              <a:t>Búsqueda de libros</a:t>
            </a:r>
          </a:p>
          <a:p>
            <a:r>
              <a:rPr lang="es-MX" dirty="0"/>
              <a:t>Visualizar información bibliográfica</a:t>
            </a:r>
          </a:p>
          <a:p>
            <a:r>
              <a:rPr lang="es-MX" dirty="0"/>
              <a:t>Filtrar por autor, género, título</a:t>
            </a:r>
          </a:p>
          <a:p>
            <a:r>
              <a:rPr lang="es-MX" dirty="0"/>
              <a:t>Gestión de recursos académicos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1A86D4-AC32-EEB9-054A-CCD766AF4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577" y="5071717"/>
            <a:ext cx="3121423" cy="17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8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18E7-1E93-5B04-5F92-B28751E7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456053A-D5BD-FDE3-A517-16EAD9D8CA2A}"/>
              </a:ext>
            </a:extLst>
          </p:cNvPr>
          <p:cNvSpPr/>
          <p:nvPr/>
        </p:nvSpPr>
        <p:spPr>
          <a:xfrm>
            <a:off x="0" y="0"/>
            <a:ext cx="12192000" cy="1669143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MÓDULOS DEL SISTEMA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706E0B62-DCD7-A63D-F02A-4FD1073B2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361" y="-76684"/>
            <a:ext cx="2153104" cy="182250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CE96106-25FC-C6BA-447C-1FA2196AD40F}"/>
              </a:ext>
            </a:extLst>
          </p:cNvPr>
          <p:cNvSpPr txBox="1"/>
          <p:nvPr/>
        </p:nvSpPr>
        <p:spPr>
          <a:xfrm>
            <a:off x="221878" y="2064168"/>
            <a:ext cx="62887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Módulo de Proyectos (Portafolio)</a:t>
            </a:r>
          </a:p>
          <a:p>
            <a:r>
              <a:rPr lang="es-MX" dirty="0"/>
              <a:t>Funcionalidades:</a:t>
            </a:r>
          </a:p>
          <a:p>
            <a:endParaRPr lang="es-MX" dirty="0"/>
          </a:p>
          <a:p>
            <a:r>
              <a:rPr lang="es-MX" dirty="0"/>
              <a:t>Agregar proyectos personales</a:t>
            </a:r>
          </a:p>
          <a:p>
            <a:r>
              <a:rPr lang="es-MX" dirty="0"/>
              <a:t>Subir imágenes de proyectos</a:t>
            </a:r>
          </a:p>
          <a:p>
            <a:r>
              <a:rPr lang="es-MX" dirty="0"/>
              <a:t>Especificar tecnologías utilizadas</a:t>
            </a:r>
          </a:p>
          <a:p>
            <a:r>
              <a:rPr lang="es-MX" dirty="0"/>
              <a:t>Enlaces a GitHub y sitio web</a:t>
            </a:r>
          </a:p>
          <a:p>
            <a:r>
              <a:rPr lang="es-MX" dirty="0"/>
              <a:t>Visualizar proyectos en perfil público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AFC8EF-AAB6-231E-7FD2-E4D45E12D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326" y="5071717"/>
            <a:ext cx="3121423" cy="17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94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C473B-FBA0-A985-9369-656FDEBA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51FA198-4866-9BC1-93A3-253E45DC680F}"/>
              </a:ext>
            </a:extLst>
          </p:cNvPr>
          <p:cNvSpPr/>
          <p:nvPr/>
        </p:nvSpPr>
        <p:spPr>
          <a:xfrm>
            <a:off x="0" y="0"/>
            <a:ext cx="12192000" cy="1669143"/>
          </a:xfrm>
          <a:prstGeom prst="rect">
            <a:avLst/>
          </a:prstGeom>
          <a:solidFill>
            <a:srgbClr val="1AD2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El mapa de procesos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8ADA2757-B5DC-A279-A022-8EB335C5B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361" y="-76684"/>
            <a:ext cx="2153104" cy="182250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3CBBB7B-5DF7-2F6B-7D6E-E6CC9B76E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326" y="5071717"/>
            <a:ext cx="3121423" cy="178628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847B5F6-F1E9-15D7-451E-D44E5B2FF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6" y="1867764"/>
            <a:ext cx="5883620" cy="47357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611345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823</Words>
  <Application>Microsoft Office PowerPoint</Application>
  <PresentationFormat>Panorámica</PresentationFormat>
  <Paragraphs>163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Aprendiz</cp:lastModifiedBy>
  <cp:revision>6</cp:revision>
  <dcterms:created xsi:type="dcterms:W3CDTF">2025-10-24T16:29:05Z</dcterms:created>
  <dcterms:modified xsi:type="dcterms:W3CDTF">2025-11-04T19:22:57Z</dcterms:modified>
</cp:coreProperties>
</file>